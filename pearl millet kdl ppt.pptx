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73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60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Plant Height @ 30 DAS (cm)</c:v>
                </c:pt>
              </c:strCache>
            </c:strRef>
          </c:tx>
          <c:spPr>
            <a:solidFill>
              <a:srgbClr val="95D5B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22222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T₁</c:v>
                </c:pt>
                <c:pt idx="1">
                  <c:v>T₂</c:v>
                </c:pt>
                <c:pt idx="2">
                  <c:v>T₃</c:v>
                </c:pt>
                <c:pt idx="3">
                  <c:v>T₄</c:v>
                </c:pt>
                <c:pt idx="4">
                  <c:v>T₅</c:v>
                </c:pt>
                <c:pt idx="5">
                  <c:v>T₆</c:v>
                </c:pt>
                <c:pt idx="6">
                  <c:v>T₇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37.299999999999997</c:v>
                </c:pt>
                <c:pt idx="1">
                  <c:v>70.599999999999994</c:v>
                </c:pt>
                <c:pt idx="2">
                  <c:v>73.66</c:v>
                </c:pt>
                <c:pt idx="3">
                  <c:v>72</c:v>
                </c:pt>
                <c:pt idx="4">
                  <c:v>68.2</c:v>
                </c:pt>
                <c:pt idx="5">
                  <c:v>51.53</c:v>
                </c:pt>
                <c:pt idx="6">
                  <c:v>35.53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E8E-4422-880F-9F80EB3D54B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Plant Height @ 60 DAS (cm)</c:v>
                </c:pt>
              </c:strCache>
            </c:strRef>
          </c:tx>
          <c:spPr>
            <a:solidFill>
              <a:srgbClr val="1B433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22222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T₁</c:v>
                </c:pt>
                <c:pt idx="1">
                  <c:v>T₂</c:v>
                </c:pt>
                <c:pt idx="2">
                  <c:v>T₃</c:v>
                </c:pt>
                <c:pt idx="3">
                  <c:v>T₄</c:v>
                </c:pt>
                <c:pt idx="4">
                  <c:v>T₅</c:v>
                </c:pt>
                <c:pt idx="5">
                  <c:v>T₆</c:v>
                </c:pt>
                <c:pt idx="6">
                  <c:v>T₇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61.07</c:v>
                </c:pt>
                <c:pt idx="1">
                  <c:v>121.13</c:v>
                </c:pt>
                <c:pt idx="2">
                  <c:v>123.87</c:v>
                </c:pt>
                <c:pt idx="3">
                  <c:v>122.07</c:v>
                </c:pt>
                <c:pt idx="4">
                  <c:v>115.8</c:v>
                </c:pt>
                <c:pt idx="5">
                  <c:v>87.4</c:v>
                </c:pt>
                <c:pt idx="6">
                  <c:v>63.33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E8E-4422-880F-9F80EB3D54B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050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0505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No. of Leaves / Plant</c:v>
                </c:pt>
              </c:strCache>
            </c:strRef>
          </c:tx>
          <c:spPr>
            <a:solidFill>
              <a:srgbClr val="52B78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2222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T₁</c:v>
                </c:pt>
                <c:pt idx="1">
                  <c:v>T₂</c:v>
                </c:pt>
                <c:pt idx="2">
                  <c:v>T₃</c:v>
                </c:pt>
                <c:pt idx="3">
                  <c:v>T₄</c:v>
                </c:pt>
                <c:pt idx="4">
                  <c:v>T₅</c:v>
                </c:pt>
                <c:pt idx="5">
                  <c:v>T₆</c:v>
                </c:pt>
                <c:pt idx="6">
                  <c:v>T₇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11</c:v>
                </c:pt>
                <c:pt idx="1">
                  <c:v>19</c:v>
                </c:pt>
                <c:pt idx="2">
                  <c:v>19</c:v>
                </c:pt>
                <c:pt idx="3">
                  <c:v>17</c:v>
                </c:pt>
                <c:pt idx="4">
                  <c:v>18</c:v>
                </c:pt>
                <c:pt idx="5">
                  <c:v>16</c:v>
                </c:pt>
                <c:pt idx="6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569-40F4-8E90-6429B6DD1D2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050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"/>
          <c:min val="0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0505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No. of Tillers / Plant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22222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T₁</c:v>
                </c:pt>
                <c:pt idx="1">
                  <c:v>T₂</c:v>
                </c:pt>
                <c:pt idx="2">
                  <c:v>T₃</c:v>
                </c:pt>
                <c:pt idx="3">
                  <c:v>T₄</c:v>
                </c:pt>
                <c:pt idx="4">
                  <c:v>T₅</c:v>
                </c:pt>
                <c:pt idx="5">
                  <c:v>T₆</c:v>
                </c:pt>
                <c:pt idx="6">
                  <c:v>T₇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3</c:v>
                </c:pt>
                <c:pt idx="2">
                  <c:v>3</c:v>
                </c:pt>
                <c:pt idx="3">
                  <c:v>3</c:v>
                </c:pt>
                <c:pt idx="4">
                  <c:v>3</c:v>
                </c:pt>
                <c:pt idx="5">
                  <c:v>2</c:v>
                </c:pt>
                <c:pt idx="6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76-4CF9-AA90-72964B80353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050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"/>
          <c:min val="0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0505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Green Fodder Yield (kg/plot)</c:v>
                </c:pt>
              </c:strCache>
            </c:strRef>
          </c:tx>
          <c:spPr>
            <a:solidFill>
              <a:srgbClr val="52B7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774-4B1C-BEC9-01B1DA9272A2}"/>
              </c:ext>
            </c:extLst>
          </c:dPt>
          <c:dPt>
            <c:idx val="1"/>
            <c:invertIfNegative val="0"/>
            <c:bubble3D val="0"/>
            <c:spPr>
              <a:solidFill>
                <a:srgbClr val="1B43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774-4B1C-BEC9-01B1DA9272A2}"/>
              </c:ext>
            </c:extLst>
          </c:dPt>
          <c:dPt>
            <c:idx val="2"/>
            <c:invertIfNegative val="0"/>
            <c:bubble3D val="0"/>
            <c:spPr>
              <a:solidFill>
                <a:srgbClr val="2D6A4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774-4B1C-BEC9-01B1DA9272A2}"/>
              </c:ext>
            </c:extLst>
          </c:dPt>
          <c:dPt>
            <c:idx val="3"/>
            <c:invertIfNegative val="0"/>
            <c:bubble3D val="0"/>
            <c:spPr>
              <a:solidFill>
                <a:srgbClr val="2D6A4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774-4B1C-BEC9-01B1DA9272A2}"/>
              </c:ext>
            </c:extLst>
          </c:dPt>
          <c:dPt>
            <c:idx val="4"/>
            <c:invertIfNegative val="0"/>
            <c:bubble3D val="0"/>
            <c:spPr>
              <a:solidFill>
                <a:srgbClr val="95D5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774-4B1C-BEC9-01B1DA9272A2}"/>
              </c:ext>
            </c:extLst>
          </c:dPt>
          <c:dPt>
            <c:idx val="5"/>
            <c:invertIfNegative val="0"/>
            <c:bubble3D val="0"/>
            <c:spPr>
              <a:solidFill>
                <a:srgbClr val="95D5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7774-4B1C-BEC9-01B1DA9272A2}"/>
              </c:ext>
            </c:extLst>
          </c:dPt>
          <c:dPt>
            <c:idx val="6"/>
            <c:invertIfNegative val="0"/>
            <c:bubble3D val="0"/>
            <c:spPr>
              <a:solidFill>
                <a:srgbClr val="D4D4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7774-4B1C-BEC9-01B1DA9272A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T₁
Control</c:v>
                </c:pt>
                <c:pt idx="1">
                  <c:v>T₂
100%RDF+FYM</c:v>
                </c:pt>
                <c:pt idx="2">
                  <c:v>T₃
100%RDF+Foliar</c:v>
                </c:pt>
                <c:pt idx="3">
                  <c:v>T₄
75%RDF+Foliar</c:v>
                </c:pt>
                <c:pt idx="4">
                  <c:v>T₅
50%RDF+Foliar</c:v>
                </c:pt>
                <c:pt idx="5">
                  <c:v>T₆
25%RDF+Foliar</c:v>
                </c:pt>
                <c:pt idx="6">
                  <c:v>T₇
0%RDF+Foliar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1.93</c:v>
                </c:pt>
                <c:pt idx="1">
                  <c:v>3.83</c:v>
                </c:pt>
                <c:pt idx="2">
                  <c:v>3.5</c:v>
                </c:pt>
                <c:pt idx="3">
                  <c:v>3.73</c:v>
                </c:pt>
                <c:pt idx="4">
                  <c:v>2.8</c:v>
                </c:pt>
                <c:pt idx="5">
                  <c:v>2.27</c:v>
                </c:pt>
                <c:pt idx="6">
                  <c:v>1.6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7774-4B1C-BEC9-01B1DA9272A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5D5B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.5"/>
          <c:min val="0"/>
        </c:scaling>
        <c:delete val="0"/>
        <c:axPos val="l"/>
        <c:majorGridlines>
          <c:spPr>
            <a:ln w="6350" cap="flat">
              <a:solidFill>
                <a:srgbClr val="2D6A4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5D5B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C3A2A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Replication 1 (kg)</c:v>
                </c:pt>
              </c:strCache>
            </c:strRef>
          </c:tx>
          <c:spPr>
            <a:solidFill>
              <a:srgbClr val="52B788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T₁</c:v>
                </c:pt>
                <c:pt idx="1">
                  <c:v>T₂</c:v>
                </c:pt>
                <c:pt idx="2">
                  <c:v>T₃</c:v>
                </c:pt>
                <c:pt idx="3">
                  <c:v>T₄</c:v>
                </c:pt>
                <c:pt idx="4">
                  <c:v>T₅</c:v>
                </c:pt>
                <c:pt idx="5">
                  <c:v>T₆</c:v>
                </c:pt>
                <c:pt idx="6">
                  <c:v>T₇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2.7</c:v>
                </c:pt>
                <c:pt idx="1">
                  <c:v>4.3</c:v>
                </c:pt>
                <c:pt idx="2">
                  <c:v>4.0999999999999996</c:v>
                </c:pt>
                <c:pt idx="3">
                  <c:v>3.2</c:v>
                </c:pt>
                <c:pt idx="4">
                  <c:v>2.4</c:v>
                </c:pt>
                <c:pt idx="5">
                  <c:v>2.2999999999999998</c:v>
                </c:pt>
                <c:pt idx="6">
                  <c:v>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C20-4E2D-993D-AE1B8C07BDA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Replication 2 (kg)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T₁</c:v>
                </c:pt>
                <c:pt idx="1">
                  <c:v>T₂</c:v>
                </c:pt>
                <c:pt idx="2">
                  <c:v>T₃</c:v>
                </c:pt>
                <c:pt idx="3">
                  <c:v>T₄</c:v>
                </c:pt>
                <c:pt idx="4">
                  <c:v>T₅</c:v>
                </c:pt>
                <c:pt idx="5">
                  <c:v>T₆</c:v>
                </c:pt>
                <c:pt idx="6">
                  <c:v>T₇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1.5</c:v>
                </c:pt>
                <c:pt idx="1">
                  <c:v>3.8</c:v>
                </c:pt>
                <c:pt idx="2">
                  <c:v>3.3</c:v>
                </c:pt>
                <c:pt idx="3">
                  <c:v>4.0999999999999996</c:v>
                </c:pt>
                <c:pt idx="4">
                  <c:v>3.1</c:v>
                </c:pt>
                <c:pt idx="5">
                  <c:v>2.1</c:v>
                </c:pt>
                <c:pt idx="6">
                  <c:v>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C20-4E2D-993D-AE1B8C07BDA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Replication 3 (kg)</c:v>
                </c:pt>
              </c:strCache>
            </c:strRef>
          </c:tx>
          <c:spPr>
            <a:solidFill>
              <a:srgbClr val="1B4332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T₁</c:v>
                </c:pt>
                <c:pt idx="1">
                  <c:v>T₂</c:v>
                </c:pt>
                <c:pt idx="2">
                  <c:v>T₃</c:v>
                </c:pt>
                <c:pt idx="3">
                  <c:v>T₄</c:v>
                </c:pt>
                <c:pt idx="4">
                  <c:v>T₅</c:v>
                </c:pt>
                <c:pt idx="5">
                  <c:v>T₆</c:v>
                </c:pt>
                <c:pt idx="6">
                  <c:v>T₇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1.6</c:v>
                </c:pt>
                <c:pt idx="1">
                  <c:v>3.4</c:v>
                </c:pt>
                <c:pt idx="2">
                  <c:v>3.1</c:v>
                </c:pt>
                <c:pt idx="3">
                  <c:v>3.9</c:v>
                </c:pt>
                <c:pt idx="4">
                  <c:v>2.9</c:v>
                </c:pt>
                <c:pt idx="5">
                  <c:v>2.4</c:v>
                </c:pt>
                <c:pt idx="6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C20-4E2D-993D-AE1B8C07BD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050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0505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Ranked Treatment Yield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Yield (kg/plot)</c:v>
                </c:pt>
              </c:strCache>
            </c:strRef>
          </c:tx>
          <c:spPr>
            <a:ln w="38100" cap="flat">
              <a:solidFill>
                <a:srgbClr val="52B7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52B788"/>
              </a:solidFill>
              <a:ln w="9525" cap="flat">
                <a:solidFill>
                  <a:srgbClr val="52B788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D6A4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T₇</c:v>
                </c:pt>
                <c:pt idx="1">
                  <c:v>T₁</c:v>
                </c:pt>
                <c:pt idx="2">
                  <c:v>T₆</c:v>
                </c:pt>
                <c:pt idx="3">
                  <c:v>T₅</c:v>
                </c:pt>
                <c:pt idx="4">
                  <c:v>T₃</c:v>
                </c:pt>
                <c:pt idx="5">
                  <c:v>T₄</c:v>
                </c:pt>
                <c:pt idx="6">
                  <c:v>T₂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1.6</c:v>
                </c:pt>
                <c:pt idx="1">
                  <c:v>1.93</c:v>
                </c:pt>
                <c:pt idx="2">
                  <c:v>2.27</c:v>
                </c:pt>
                <c:pt idx="3">
                  <c:v>2.8</c:v>
                </c:pt>
                <c:pt idx="4">
                  <c:v>3.5</c:v>
                </c:pt>
                <c:pt idx="5">
                  <c:v>3.73</c:v>
                </c:pt>
                <c:pt idx="6">
                  <c:v>3.83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6414-41AD-9398-1CC0C968F9A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0505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.5"/>
          <c:min val="0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0505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23992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033188-0476-EC55-C7FB-161EC2610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106DD-F06A-4DEB-BAF9-D004C5F671FD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F0714A-FEC9-22D9-22A0-CEF8A14C0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F82963-77B7-6B47-97D6-67BC65615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EF4B1-28E1-4B50-A850-AB095ED2A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970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BB1A7A-8B35-817E-F963-B832527D25E2}"/>
              </a:ext>
            </a:extLst>
          </p:cNvPr>
          <p:cNvSpPr txBox="1"/>
          <p:nvPr/>
        </p:nvSpPr>
        <p:spPr>
          <a:xfrm>
            <a:off x="624078" y="557581"/>
            <a:ext cx="8058150" cy="357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540"/>
              </a:spcBef>
              <a:spcAft>
                <a:spcPts val="540"/>
              </a:spcAft>
            </a:pPr>
            <a:r>
              <a:rPr lang="en-IN" sz="1500" b="1" kern="100" dirty="0">
                <a:solidFill>
                  <a:srgbClr val="C00000"/>
                </a:solidFill>
                <a:latin typeface="Trebuchet MS" panose="020B06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EAI-421: Application of AI &amp; ML in Agriculture (0+10)</a:t>
            </a:r>
            <a:endParaRPr lang="en-IN" sz="1500" kern="100" dirty="0">
              <a:solidFill>
                <a:srgbClr val="C00000"/>
              </a:solidFill>
              <a:latin typeface="Trebuchet MS" panose="020B06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9FA16699-7B8F-D3C9-DA98-86C2586CCF2E}"/>
              </a:ext>
            </a:extLst>
          </p:cNvPr>
          <p:cNvSpPr txBox="1">
            <a:spLocks noChangeArrowheads="1"/>
          </p:cNvSpPr>
          <p:nvPr/>
        </p:nvSpPr>
        <p:spPr>
          <a:xfrm>
            <a:off x="4375355" y="3192847"/>
            <a:ext cx="4306873" cy="161461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US" sz="1500" b="1" dirty="0" smtClean="0">
                <a:solidFill>
                  <a:schemeClr val="accent1">
                    <a:lumMod val="75000"/>
                  </a:schemeClr>
                </a:solidFill>
                <a:latin typeface="Century Gothic" pitchFamily="34" charset="0"/>
                <a:cs typeface="Tahoma" pitchFamily="34" charset="0"/>
              </a:rPr>
              <a:t>Team:</a:t>
            </a:r>
          </a:p>
          <a:p>
            <a:pPr marL="0" indent="0">
              <a:buNone/>
              <a:defRPr/>
            </a:pPr>
            <a:r>
              <a:rPr lang="en-US" sz="1500" b="1" dirty="0" smtClean="0">
                <a:latin typeface="Century Gothic" pitchFamily="34" charset="0"/>
                <a:cs typeface="Tahoma" pitchFamily="34" charset="0"/>
              </a:rPr>
              <a:t>BHOOMIKA D – AMB2037</a:t>
            </a:r>
          </a:p>
          <a:p>
            <a:pPr marL="0" indent="0">
              <a:buNone/>
              <a:defRPr/>
            </a:pPr>
            <a:r>
              <a:rPr lang="en-US" sz="1500" b="1" dirty="0" smtClean="0">
                <a:latin typeface="Century Gothic" pitchFamily="34" charset="0"/>
                <a:cs typeface="Tahoma" pitchFamily="34" charset="0"/>
              </a:rPr>
              <a:t>K BHUMIKA- AMB2039</a:t>
            </a:r>
          </a:p>
          <a:p>
            <a:pPr marL="0" indent="0">
              <a:buNone/>
              <a:defRPr/>
            </a:pPr>
            <a:r>
              <a:rPr lang="en-US" sz="1500" b="1" dirty="0" smtClean="0">
                <a:latin typeface="Century Gothic" pitchFamily="34" charset="0"/>
                <a:cs typeface="Tahoma" pitchFamily="34" charset="0"/>
              </a:rPr>
              <a:t>LEKHANA B M- AMB2115</a:t>
            </a:r>
            <a:endParaRPr lang="en-US" sz="1500" b="1" dirty="0">
              <a:latin typeface="Century Gothic" pitchFamily="34" charset="0"/>
              <a:cs typeface="Tahoma" pitchFamily="34" charset="0"/>
            </a:endParaRPr>
          </a:p>
        </p:txBody>
      </p:sp>
      <p:pic>
        <p:nvPicPr>
          <p:cNvPr id="4" name="Picture 2" descr="UAS-B New Logo and Diamond Jubilee Year Logo – DEPARTMENT OF ...">
            <a:extLst>
              <a:ext uri="{FF2B5EF4-FFF2-40B4-BE49-F238E27FC236}">
                <a16:creationId xmlns:a16="http://schemas.microsoft.com/office/drawing/2014/main" id="{E6243998-2CDE-F6DD-F3A1-DC561CDBA5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583" y="3192847"/>
            <a:ext cx="1631972" cy="15652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36F1364-59B0-37F3-E8AB-B878F427B2B6}"/>
              </a:ext>
            </a:extLst>
          </p:cNvPr>
          <p:cNvSpPr txBox="1"/>
          <p:nvPr/>
        </p:nvSpPr>
        <p:spPr>
          <a:xfrm>
            <a:off x="1583436" y="246873"/>
            <a:ext cx="642937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500" b="1" i="1" dirty="0">
                <a:solidFill>
                  <a:srgbClr val="0000FF"/>
                </a:solidFill>
                <a:latin typeface="Century Gothic" pitchFamily="34" charset="0"/>
                <a:cs typeface="Tahoma" pitchFamily="34" charset="0"/>
              </a:rPr>
              <a:t>PROJECT REPORT</a:t>
            </a:r>
            <a:endParaRPr lang="en-IN" sz="1500" b="1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68EE6D6-589A-AA3D-7029-D5C23CF40064}"/>
              </a:ext>
            </a:extLst>
          </p:cNvPr>
          <p:cNvSpPr/>
          <p:nvPr/>
        </p:nvSpPr>
        <p:spPr>
          <a:xfrm>
            <a:off x="1045845" y="1392173"/>
            <a:ext cx="7214616" cy="1252703"/>
          </a:xfrm>
          <a:prstGeom prst="roundRect">
            <a:avLst>
              <a:gd name="adj" fmla="val 1663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1" i="1" dirty="0">
                <a:solidFill>
                  <a:srgbClr val="0000FF"/>
                </a:solidFill>
                <a:latin typeface="Century Gothic" pitchFamily="34" charset="0"/>
                <a:cs typeface="Tahoma" pitchFamily="34" charset="0"/>
              </a:rPr>
              <a:t>Project </a:t>
            </a:r>
            <a:r>
              <a:rPr lang="en-US" sz="2000" b="1" i="1" dirty="0" err="1" smtClean="0">
                <a:solidFill>
                  <a:srgbClr val="0000FF"/>
                </a:solidFill>
                <a:latin typeface="Century Gothic" pitchFamily="34" charset="0"/>
                <a:cs typeface="Tahoma" pitchFamily="34" charset="0"/>
              </a:rPr>
              <a:t>Title:</a:t>
            </a:r>
            <a:r>
              <a:rPr lang="en-US" sz="2000" b="1" dirty="0" err="1" smtClean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</a:t>
            </a:r>
            <a:endParaRPr lang="en-US" sz="2000" b="1" dirty="0" smtClean="0">
              <a:solidFill>
                <a:srgbClr val="FFFFFF"/>
              </a:solidFill>
              <a:latin typeface="Georgia" pitchFamily="34" charset="0"/>
              <a:ea typeface="Georgia" pitchFamily="34" charset="-122"/>
              <a:cs typeface="Georgia" pitchFamily="34" charset="-120"/>
            </a:endParaRPr>
          </a:p>
          <a:p>
            <a:r>
              <a:rPr lang="en-US" sz="1600" b="1" dirty="0" err="1" smtClean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</a:t>
            </a:r>
            <a:r>
              <a:rPr lang="en-US" sz="1600" b="1" dirty="0" smtClean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FOLIAR APPLICATION ON</a:t>
            </a:r>
            <a:endParaRPr lang="en-US" sz="1600" dirty="0"/>
          </a:p>
          <a:p>
            <a:pPr algn="ctr"/>
            <a:r>
              <a:rPr lang="en-US" sz="2400" b="1" i="1" dirty="0" smtClean="0">
                <a:solidFill>
                  <a:schemeClr val="accent1">
                    <a:lumMod val="75000"/>
                  </a:schemeClr>
                </a:solidFill>
                <a:latin typeface="Century Gothic" pitchFamily="34" charset="0"/>
                <a:cs typeface="Tahoma" pitchFamily="34" charset="0"/>
              </a:rPr>
              <a:t>EFFECT OF FOLIAR APPLICATION ON GROWTH AND YIELD OF PEARL MILLET</a:t>
            </a:r>
          </a:p>
          <a:p>
            <a:pPr algn="ctr"/>
            <a:r>
              <a:rPr lang="en-US" b="1" i="1" dirty="0" err="1" smtClean="0">
                <a:solidFill>
                  <a:schemeClr val="accent1">
                    <a:lumMod val="75000"/>
                  </a:schemeClr>
                </a:solidFill>
                <a:latin typeface="Century Gothic" pitchFamily="34" charset="0"/>
                <a:cs typeface="Tahoma" pitchFamily="34" charset="0"/>
              </a:rPr>
              <a:t>Pennisetum</a:t>
            </a:r>
            <a:r>
              <a:rPr lang="en-US" b="1" i="1" dirty="0" smtClean="0">
                <a:solidFill>
                  <a:schemeClr val="accent1">
                    <a:lumMod val="75000"/>
                  </a:schemeClr>
                </a:solidFill>
                <a:latin typeface="Century Gothic" pitchFamily="34" charset="0"/>
                <a:cs typeface="Tahoma" pitchFamily="34" charset="0"/>
              </a:rPr>
              <a:t> </a:t>
            </a:r>
            <a:r>
              <a:rPr lang="en-US" b="1" i="1" dirty="0" err="1" smtClean="0">
                <a:solidFill>
                  <a:schemeClr val="accent1">
                    <a:lumMod val="75000"/>
                  </a:schemeClr>
                </a:solidFill>
                <a:latin typeface="Century Gothic" pitchFamily="34" charset="0"/>
                <a:cs typeface="Tahoma" pitchFamily="34" charset="0"/>
              </a:rPr>
              <a:t>glaucum</a:t>
            </a:r>
            <a:r>
              <a:rPr lang="en-US" b="1" i="1" dirty="0" smtClean="0">
                <a:solidFill>
                  <a:schemeClr val="accent1">
                    <a:lumMod val="75000"/>
                  </a:schemeClr>
                </a:solidFill>
                <a:latin typeface="Century Gothic" pitchFamily="34" charset="0"/>
                <a:cs typeface="Tahoma" pitchFamily="34" charset="0"/>
              </a:rPr>
              <a:t> L.</a:t>
            </a:r>
            <a:endParaRPr lang="en-US" b="1" i="1" dirty="0">
              <a:solidFill>
                <a:schemeClr val="accent1">
                  <a:lumMod val="75000"/>
                </a:schemeClr>
              </a:solidFill>
              <a:latin typeface="Century Gothic" pitchFamily="34" charset="0"/>
              <a:cs typeface="Tahoma" pitchFamily="34" charset="0"/>
            </a:endParaRPr>
          </a:p>
          <a:p>
            <a:pPr algn="ctr"/>
            <a:endParaRPr lang="en-IN" sz="24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8917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498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the Study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974336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UAS Bangalore | Dept. of Agronomy | AGR 312 | Kharif 2025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412480" y="497433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914400"/>
            <a:ext cx="859536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D4E8D4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914400"/>
            <a:ext cx="109728" cy="374904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005840"/>
            <a:ext cx="81381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12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Conducted during Kharif 2025 at Instructional Farm, UAS GKVK, Bengaluru (Eastern Dry Zone, Karnataka).
</a:t>
            </a:r>
            <a:r>
              <a:rPr lang="en-US" sz="12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12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foliar application of 2% 19:19:19 NPK water-soluble fertilizer at different levels of Recommended Dose of Fertilizer (RDF) on fodder bajra (PHVB 910).
</a:t>
            </a:r>
            <a:r>
              <a:rPr lang="en-US" sz="12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r>
              <a:rPr lang="en-US" sz="12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laid in RCBD with 7 treatments × 3 replications (21 plots total).
</a:t>
            </a:r>
            <a:r>
              <a:rPr lang="en-US" sz="12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12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Result: Highest green fodder yield in T₂ (3.83 kg/plot); T₄ (75% RDF + foliar) was statistically at par with T₂.
</a:t>
            </a:r>
            <a:r>
              <a:rPr lang="en-US" sz="12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r>
              <a:rPr lang="en-US" sz="12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ANOVA: F = 11.37 significant at 5% level; CD = 0.82 kg.
</a:t>
            </a:r>
            <a:r>
              <a:rPr lang="en-US" sz="125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</a:t>
            </a:r>
            <a:r>
              <a:rPr lang="en-US" sz="125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75% RDF + foliar spray can match 100% RDF yield → scope for 25% fertilizer saving.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OBJECTIVES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498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fodder bajra? Why foliar nutrition?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974336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UAS Bangalore | Dept. of Agronomy | AGR 312 | Kharif 2025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412480" y="497433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8600" y="960120"/>
            <a:ext cx="4114800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D4E8D4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10241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1371600"/>
            <a:ext cx="38862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faces ~36% deficit in green fodder &amp; 11% in dry fodder (FAO, 2022).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 millet: fast growth, drought tolerance, high biomass — ideal for Eastern Dry Zone.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soil fertilizer: only 30–50% nutrient use efficiency due to leaching &amp; fixation.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Foliar fertilization achieves 70–90% uptake efficiency.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NPK 19:19:19 supplies balanced N, P, K simultaneously.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960120"/>
            <a:ext cx="4297680" cy="3703320"/>
          </a:xfrm>
          <a:prstGeom prst="rect">
            <a:avLst/>
          </a:prstGeom>
          <a:solidFill>
            <a:srgbClr val="1B4332"/>
          </a:solidFill>
          <a:ln w="6350">
            <a:solidFill>
              <a:srgbClr val="D4E8D4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02412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408176"/>
            <a:ext cx="256032" cy="25603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3990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83480" y="139903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8F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foliar 2% 19:19:19 at different RDF levels on growth parameters.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002536"/>
            <a:ext cx="256032" cy="25603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19933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83480" y="199339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8F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integrated soil + foliar management on green fodder &amp; dry matter yield.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2596896"/>
            <a:ext cx="256032" cy="25603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5877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983480" y="258775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8F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optimal RDF + foliar combination for maximum fodder yield.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63440" y="3191256"/>
            <a:ext cx="256032" cy="25603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31821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83480" y="318211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8F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scope for reducing soil-applied fertilizer via foliar supplementation.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63440" y="3785616"/>
            <a:ext cx="256032" cy="25603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3776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83480" y="3776472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8F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evidence-based nutrient management recommendations.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&amp; METHODS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498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Site, Design &amp; Protocol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974336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UAS Bangalore | Dept. of Agronomy | AGR 312 | Kharif 2025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412480" y="497433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8600" y="960120"/>
            <a:ext cx="2834640" cy="3703320"/>
          </a:xfrm>
          <a:prstGeom prst="rect">
            <a:avLst/>
          </a:prstGeom>
          <a:solidFill>
            <a:srgbClr val="1B4332"/>
          </a:solidFill>
          <a:ln w="6350">
            <a:solidFill>
              <a:srgbClr val="D4E8D4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102412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SITE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5800" y="1335024"/>
            <a:ext cx="1920240" cy="36576"/>
          </a:xfrm>
          <a:prstGeom prst="rect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" y="1417320"/>
            <a:ext cx="2615184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8F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GKVK, Bengaluru — 930 m ASL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8F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13°05′N, 77°34′E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8F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Eastern Dry Zone (Zone-5), Karnataka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8F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Erratic rainfall: 600–900 mm/year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8F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Kharif 2025 Season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0" y="960120"/>
            <a:ext cx="2834640" cy="3703320"/>
          </a:xfrm>
          <a:prstGeom prst="rect">
            <a:avLst/>
          </a:prstGeom>
          <a:solidFill>
            <a:srgbClr val="2D6A4F"/>
          </a:solidFill>
          <a:ln w="6350">
            <a:solidFill>
              <a:srgbClr val="D4E8D4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91840" y="102412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DESIGN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0" y="1335024"/>
            <a:ext cx="1920240" cy="36576"/>
          </a:xfrm>
          <a:prstGeom prst="rect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0128" y="1417320"/>
            <a:ext cx="2615184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8F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RCBD — 7 treatments × 3 reps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8F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plots total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8F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Hybrid: PHVB 910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8F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Sown: 03-09-2025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F8F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Spacing: 30 cm × 10 cm, 8–10 kg/ha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72200" y="960120"/>
            <a:ext cx="2834640" cy="3703320"/>
          </a:xfrm>
          <a:prstGeom prst="rect">
            <a:avLst/>
          </a:prstGeom>
          <a:solidFill>
            <a:srgbClr val="52B788"/>
          </a:solidFill>
          <a:ln w="6350">
            <a:solidFill>
              <a:srgbClr val="D4E8D4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63640" y="102412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FOLIAR PROTOCOL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29400" y="1335024"/>
            <a:ext cx="1920240" cy="36576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81928" y="1417320"/>
            <a:ext cx="2615184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 19:19:19 WSF in 100 L water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at 25 DAS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Knapsack sprayer, hollow cone nozzle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Spray volume: 500 L/ha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morning to avoid leaf scorch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STRUCTURE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498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Treatments × 3 Replications — RCBD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974336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UAS Bangalore | Dept. of Agronomy | AGR 312 | Kharif 2025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412480" y="497433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5/15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3438144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RDF Level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Foliar Spray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(no fertilizer, no foliar)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T₂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F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RDF + 5 t FYM ha⁻¹ (UASB POP)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F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F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F4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RDF + 2% 19:19:19 foliar spray at 25 DAS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F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 RDF + 2% 19:19:19 foliar spray at 25 DAS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F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F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F4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 RDF + 2% 19:19:19 foliar spray at 25 DAS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F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 RDF + 2% 19:19:19 foliar spray at 25 DAS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F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F4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F4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 RDF + 2% 19:19:19 foliar spray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274320" y="4773168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B9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 = 100:62.5:25 kg NPK ha⁻¹  |  WSF = Water Soluble Fertilizer 19:19:19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PROPERTIES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498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Pre-sowing Physico-Chemical Analysis — 0–30 cm depth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974336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UAS Bangalore | Dept. of Agronomy | AGR 312 | Kharif 2025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412480" y="497433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6/15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05840"/>
          <a:ext cx="7680960" cy="3145536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Buckman's zerometric pH meter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 (dS/m)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Conductometry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Organic Carbon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Walkey &amp; Black 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 N (kg/ha)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Alkaline permanganate 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276.8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 P₂O₅ (kg/ha)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Olsen's 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Available K₂O (kg/ha)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Neutral ammonium acetate 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271.5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International pipette 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Sandy Loam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31520" y="4389120"/>
            <a:ext cx="2377440" cy="502920"/>
          </a:xfrm>
          <a:prstGeom prst="rect">
            <a:avLst/>
          </a:prstGeom>
          <a:solidFill>
            <a:srgbClr val="1B4332"/>
          </a:solidFill>
          <a:ln w="6350">
            <a:solidFill>
              <a:srgbClr val="D4E8D4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22960" y="440740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pH: 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554480" y="437083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6.56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22960" y="46634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Mod. acidic–neutral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3383280" y="4389120"/>
            <a:ext cx="2377440" cy="502920"/>
          </a:xfrm>
          <a:prstGeom prst="rect">
            <a:avLst/>
          </a:prstGeom>
          <a:solidFill>
            <a:srgbClr val="1B4332"/>
          </a:solidFill>
          <a:ln w="6350">
            <a:solidFill>
              <a:srgbClr val="D4E8D4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474720" y="440740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N: 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206240" y="437083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276.8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3474720" y="46634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kg/ha — Medium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6035040" y="4389120"/>
            <a:ext cx="2377440" cy="502920"/>
          </a:xfrm>
          <a:prstGeom prst="rect">
            <a:avLst/>
          </a:prstGeom>
          <a:solidFill>
            <a:srgbClr val="1B4332"/>
          </a:solidFill>
          <a:ln w="6350">
            <a:solidFill>
              <a:srgbClr val="D4E8D4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126480" y="440740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K: 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858000" y="4370832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271.5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126480" y="46634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kg/ha — High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HEIGHT — 30 &amp; 60 DAS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498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treatment differences across growth stages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974336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UAS Bangalore | Dept. of Agronomy | AGR 312 | Kharif 2025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412480" y="497433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7/15</a:t>
            </a:r>
            <a:endParaRPr lang="en-US" sz="8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274320" y="914400"/>
          <a:ext cx="6400800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6858000" y="960120"/>
            <a:ext cx="2011680" cy="1097280"/>
          </a:xfrm>
          <a:prstGeom prst="rect">
            <a:avLst/>
          </a:prstGeom>
          <a:solidFill>
            <a:srgbClr val="1B4332"/>
          </a:solidFill>
          <a:ln w="6350">
            <a:solidFill>
              <a:srgbClr val="D4E8D4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949440" y="1005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Tallest @ 60 DAS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949440" y="125272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123.87 cm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949440" y="16276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9D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T₃ (100% RDF + Foliar)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858000" y="2221992"/>
            <a:ext cx="2011680" cy="1097280"/>
          </a:xfrm>
          <a:prstGeom prst="rect">
            <a:avLst/>
          </a:prstGeom>
          <a:solidFill>
            <a:srgbClr val="2D6A4F"/>
          </a:solidFill>
          <a:ln w="6350">
            <a:solidFill>
              <a:srgbClr val="D4E8D4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949440" y="22677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par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949440" y="25146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T₄: 122.07 cm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949440" y="28895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9D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RDF + Foliar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858000" y="3483864"/>
            <a:ext cx="2011680" cy="1097280"/>
          </a:xfrm>
          <a:prstGeom prst="rect">
            <a:avLst/>
          </a:prstGeom>
          <a:solidFill>
            <a:srgbClr val="B85042"/>
          </a:solidFill>
          <a:ln w="6350">
            <a:solidFill>
              <a:srgbClr val="D4E8D4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949440" y="35295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@ 60 DAS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949440" y="377647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61.07 cm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949440" y="415137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9D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T₁ — lowest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 &amp; TILLERS PER PLANT @ 60 DAS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498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Vegetative growth response across treatments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974336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UAS Bangalore | Dept. of Agronomy | AGR 312 | Kharif 2025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412480" y="497433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8/15</a:t>
            </a:r>
            <a:endParaRPr lang="en-US" sz="8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274320" y="914400"/>
          <a:ext cx="429768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1"/>
          <p:cNvGraphicFramePr/>
          <p:nvPr/>
        </p:nvGraphicFramePr>
        <p:xfrm>
          <a:off x="4754880" y="914400"/>
          <a:ext cx="411480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974336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UAS Bangalore | Dept. of Agronomy | AGR 312 | Kharif 2025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97433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FODDER YIELD PER PLOT (kg)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530352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yield across 7 treatments | Grand Mean = 2.816 kg/plot | CD (5%) = 0.82 kg</a:t>
            </a:r>
            <a:endParaRPr lang="en-US" sz="11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274320" y="868680"/>
          <a:ext cx="658368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7040880" y="914400"/>
            <a:ext cx="1874520" cy="1115568"/>
          </a:xfrm>
          <a:prstGeom prst="rect">
            <a:avLst/>
          </a:prstGeom>
          <a:solidFill>
            <a:srgbClr val="2D6A4F"/>
          </a:solidFill>
          <a:ln w="6350">
            <a:solidFill>
              <a:srgbClr val="D4E8D4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086600" y="95097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498080" y="95097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T₂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086600" y="13258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5D5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3.83 kg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086600" y="16184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9D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RDF + FYM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7040880" y="2194560"/>
            <a:ext cx="1874520" cy="1115568"/>
          </a:xfrm>
          <a:prstGeom prst="rect">
            <a:avLst/>
          </a:prstGeom>
          <a:solidFill>
            <a:srgbClr val="2D6A4F"/>
          </a:solidFill>
          <a:ln w="6350">
            <a:solidFill>
              <a:srgbClr val="D4E8D4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086600" y="223113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498080" y="223113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T₄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086600" y="2606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5D5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3.73 kg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086600" y="28986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9D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RDF + Foliar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040880" y="3474720"/>
            <a:ext cx="1874520" cy="1115568"/>
          </a:xfrm>
          <a:prstGeom prst="rect">
            <a:avLst/>
          </a:prstGeom>
          <a:solidFill>
            <a:srgbClr val="2D6A4F"/>
          </a:solidFill>
          <a:ln w="6350">
            <a:solidFill>
              <a:srgbClr val="D4E8D4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086600" y="351129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#3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7498080" y="351129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T₃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086600" y="38862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5D5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3.50 kg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086600" y="41788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E9D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RDF + Foliar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REPLICATION-WISE YIELD &amp; TREATMENT RANKING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498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consistency across replications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974336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UAS Bangalore | Dept. of Agronomy | AGR 312 | Kharif 2025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412480" y="497433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10/15</a:t>
            </a:r>
            <a:endParaRPr lang="en-US" sz="8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274320" y="914400"/>
          <a:ext cx="530352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1"/>
          <p:cNvGraphicFramePr/>
          <p:nvPr/>
        </p:nvGraphicFramePr>
        <p:xfrm>
          <a:off x="5760720" y="914400"/>
          <a:ext cx="315468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 — ANOVA (RCBD)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498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F-test significant at 5% level | CD = 0.82 kg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974336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UAS Bangalore | Dept. of Agronomy | AGR 312 | Kharif 2025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412480" y="497433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11/15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219456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of Variation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F-Value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F-tab (5%)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Replications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11.37*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20.61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7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E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274320" y="34290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Significant at 5% probability level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74320" y="3749040"/>
            <a:ext cx="1965960" cy="960120"/>
          </a:xfrm>
          <a:prstGeom prst="rect">
            <a:avLst/>
          </a:prstGeom>
          <a:solidFill>
            <a:srgbClr val="1B4332"/>
          </a:solidFill>
          <a:ln w="6350">
            <a:solidFill>
              <a:srgbClr val="D4E8D4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9"/>
          <p:cNvSpPr/>
          <p:nvPr/>
        </p:nvSpPr>
        <p:spPr>
          <a:xfrm>
            <a:off x="365760" y="37947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Mean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65760" y="40233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2.816 kg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2450592" y="3749040"/>
            <a:ext cx="1965960" cy="960120"/>
          </a:xfrm>
          <a:prstGeom prst="rect">
            <a:avLst/>
          </a:prstGeom>
          <a:solidFill>
            <a:srgbClr val="1B4332"/>
          </a:solidFill>
          <a:ln w="6350">
            <a:solidFill>
              <a:srgbClr val="D4E8D4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2542032" y="37947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(%)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542032" y="40233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18.0%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4626864" y="3749040"/>
            <a:ext cx="1965960" cy="960120"/>
          </a:xfrm>
          <a:prstGeom prst="rect">
            <a:avLst/>
          </a:prstGeom>
          <a:solidFill>
            <a:srgbClr val="1B4332"/>
          </a:solidFill>
          <a:ln w="6350">
            <a:solidFill>
              <a:srgbClr val="D4E8D4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718304" y="37947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@ 5%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718304" y="40233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0.82 kg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6803136" y="3749040"/>
            <a:ext cx="1965960" cy="960120"/>
          </a:xfrm>
          <a:prstGeom prst="rect">
            <a:avLst/>
          </a:prstGeom>
          <a:solidFill>
            <a:srgbClr val="1B4332"/>
          </a:solidFill>
          <a:ln w="6350">
            <a:solidFill>
              <a:srgbClr val="D4E8D4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894576" y="379476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F-calculated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6894576" y="40233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11.37*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974336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UAS Bangalore | Dept. of Agronomy | AGR 312 | Kharif 2025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97433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38636"/>
          </a:solidFill>
          <a:ln w="12700">
            <a:solidFill>
              <a:srgbClr val="2386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CODE — DATA ANALYSIS &amp; VISUALIZATION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54864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· NumPy · SciPy — ANOVA &amp; Chart Generation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841248"/>
            <a:ext cx="8686800" cy="393192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886968"/>
            <a:ext cx="8503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numpy </a:t>
            </a:r>
            <a:r>
              <a:rPr lang="en-US" sz="9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np
</a:t>
            </a:r>
            <a:r>
              <a:rPr lang="en-US" sz="9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matplotlib.pyplot </a:t>
            </a:r>
            <a:r>
              <a:rPr lang="en-US" sz="9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plt
</a:t>
            </a:r>
            <a:r>
              <a:rPr lang="en-US" sz="9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scipy </a:t>
            </a:r>
            <a:r>
              <a:rPr lang="en-US" sz="9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stats
</a:t>
            </a: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Treatments &amp; mean fodder yield
</a:t>
            </a: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treatments </a:t>
            </a: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</a:t>
            </a:r>
            <a:r>
              <a:rPr lang="en-US" sz="9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['T1','T2','T3','T4','T5','T6','T7']
</a:t>
            </a: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yields </a:t>
            </a: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np.array([</a:t>
            </a:r>
            <a:r>
              <a:rPr lang="en-US" sz="9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1.93,3.83,3.50,3.73,2.80,2.27,1.60</a:t>
            </a: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
</a:t>
            </a: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One-way ANOVA (F-test)
</a:t>
            </a: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r1 = np.array([</a:t>
            </a:r>
            <a:r>
              <a:rPr lang="en-US" sz="9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2.7,4.3,4.1,3.2,2.4,2.3,1.5</a:t>
            </a: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
</a:t>
            </a: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r2 = np.array([</a:t>
            </a:r>
            <a:r>
              <a:rPr lang="en-US" sz="9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1.5,3.8,3.3,4.1,3.1,2.1,1.5</a:t>
            </a: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
</a:t>
            </a: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r3 = np.array([</a:t>
            </a:r>
            <a:r>
              <a:rPr lang="en-US" sz="9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1.6,3.4,3.1,3.9,2.9,2.4,1.8</a:t>
            </a: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
</a:t>
            </a:r>
            <a:r>
              <a:rPr lang="en-US" sz="90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f_stat, p_val = stats.f_oneway(r1, r2, r3)
</a:t>
            </a:r>
            <a:r>
              <a:rPr lang="en-US" sz="900" b="1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(f"F = {f_stat:.2f}, p = {p_val:.4f}")
</a:t>
            </a:r>
            <a:r>
              <a:rPr lang="en-US" sz="9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Bar chart — mean yield
</a:t>
            </a: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plt.figure(figsize=(</a:t>
            </a:r>
            <a:r>
              <a:rPr lang="en-US" sz="9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10,5</a:t>
            </a: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
bars = plt.bar(treatments, yields, color=</a:t>
            </a:r>
            <a:r>
              <a:rPr lang="en-US" sz="9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'#52B788'</a:t>
            </a: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plt.axhline(y=yields.mean(), color=</a:t>
            </a:r>
            <a:r>
              <a:rPr lang="en-US" sz="9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'red'</a:t>
            </a: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linestyle=</a:t>
            </a:r>
            <a:r>
              <a:rPr lang="en-US" sz="9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'--'</a:t>
            </a: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label=</a:t>
            </a:r>
            <a:r>
              <a:rPr lang="en-US" sz="9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'Grand Mean'</a:t>
            </a: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plt.title(</a:t>
            </a:r>
            <a:r>
              <a:rPr lang="en-US" sz="9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'Green Fodder Yield (kg/plot)'</a:t>
            </a: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plt.savefig(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'yield_chart.png'</a:t>
            </a: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dpi=</a:t>
            </a:r>
            <a:r>
              <a:rPr lang="en-US" sz="900" dirty="0">
                <a:solidFill>
                  <a:srgbClr val="FFA6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</a:t>
            </a:r>
            <a:r>
              <a:rPr lang="en-US" sz="9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OF LITERATURE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640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498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supporting foliar fertilization in pearl millet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4974336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UAS Bangalore | Dept. of Agronomy | AGR 312 | Kharif 2025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412480" y="497433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8600" y="1005840"/>
            <a:ext cx="42519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4E8D4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1005840"/>
            <a:ext cx="91440" cy="11887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" y="106984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Rundla &amp; Bairwa (2018)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93192" y="1325880"/>
            <a:ext cx="3977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Foliar N, P, K spray significantly enhanced yield &amp; economic returns of pearl millet vs soil-only application.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005840"/>
            <a:ext cx="42519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4E8D4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005840"/>
            <a:ext cx="91440" cy="11887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106984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Patel et al. (2019)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28032" y="1325880"/>
            <a:ext cx="3977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19:19:19 + ZnSO₄ foliar → tallest plants (~163.9 cm), more tillers, higher straw yield under moisture-limited conditions.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313432"/>
            <a:ext cx="42519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4E8D4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313432"/>
            <a:ext cx="91440" cy="11887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" y="237744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Lagad et al. (2020)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93192" y="2633472"/>
            <a:ext cx="3977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 urea foliar @ 40 DAS in forage sorghum → 589.83 q/ha green fodder yield, significantly higher economic returns.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2313432"/>
            <a:ext cx="42519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4E8D4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2313432"/>
            <a:ext cx="91440" cy="11887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237744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Logesh Kumar &amp; Sankaran (2020)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28032" y="2633472"/>
            <a:ext cx="3977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soil + foliar treatments improved yield over soil-only or foliar-only treatments under rainfed conditions.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3621024"/>
            <a:ext cx="42519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4E8D4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3621024"/>
            <a:ext cx="91440" cy="11887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3192" y="368503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Srivani et al. (2021)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93192" y="3941064"/>
            <a:ext cx="3977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Nano-urea foliar spray enhanced N use efficiency, chlorophyll, tiller count and root biomass in fodder bajra.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3621024"/>
            <a:ext cx="42519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4E8D4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3621024"/>
            <a:ext cx="91440" cy="11887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368503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Avachar &amp; Prabhakar (2024)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28032" y="3941064"/>
            <a:ext cx="3977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Foliar nutrient application in silage maize improved nutrient uptake efficiency and biomass productivity.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2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974336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UAS Bangalore | Dept. of Agronomy | AGR 312 | Kharif 2025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412480" y="497433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14/15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 — AI, IOT &amp; PRECISION AGRICULTURE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56692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fodder bajra production through digital agriculture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" y="960120"/>
            <a:ext cx="2834640" cy="1737360"/>
          </a:xfrm>
          <a:prstGeom prst="rect">
            <a:avLst/>
          </a:prstGeom>
          <a:solidFill>
            <a:srgbClr val="2D6A4F"/>
          </a:solidFill>
          <a:ln w="6350">
            <a:solidFill>
              <a:srgbClr val="D4E8D4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103327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1051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Models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141732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TensorFlow, Scikit-learn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74320" y="1618488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optimal foliar spray dose &amp; timing from soil NPK + weather + NDVI inputs.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72968" y="960120"/>
            <a:ext cx="2834640" cy="1737360"/>
          </a:xfrm>
          <a:prstGeom prst="rect">
            <a:avLst/>
          </a:prstGeom>
          <a:solidFill>
            <a:srgbClr val="2D6A4F"/>
          </a:solidFill>
          <a:ln w="6350">
            <a:solidFill>
              <a:srgbClr val="D4E8D4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64408" y="103327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721608" y="1051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64408" y="141732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Arduino, ESP32, LoRaWAN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264408" y="1618488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soil moisture, EC, leaf temperature → cloud dashboard for timely intervention.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63056" y="960120"/>
            <a:ext cx="2834640" cy="1737360"/>
          </a:xfrm>
          <a:prstGeom prst="rect">
            <a:avLst/>
          </a:prstGeom>
          <a:solidFill>
            <a:srgbClr val="2D6A4F"/>
          </a:solidFill>
          <a:ln w="6350">
            <a:solidFill>
              <a:srgbClr val="D4E8D4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54496" y="103327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🚁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711696" y="1051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Spraying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54496" y="141732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DJI Agras T40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254496" y="1618488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variable-rate foliar spray — 20–30% fertilizer saving vs knapsack sprayer.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82880" y="2880360"/>
            <a:ext cx="2834640" cy="1737360"/>
          </a:xfrm>
          <a:prstGeom prst="rect">
            <a:avLst/>
          </a:prstGeom>
          <a:solidFill>
            <a:srgbClr val="2D6A4F"/>
          </a:solidFill>
          <a:ln w="6350">
            <a:solidFill>
              <a:srgbClr val="D4E8D4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74320" y="295351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🛰️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31520" y="2971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Sensing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4320" y="333756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Sentinel-2, Google Earth Engine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74320" y="3538728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NDVI/NDRE tracking at field scale → identify nutrient stress zones for targeted foliar.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172968" y="2880360"/>
            <a:ext cx="2834640" cy="1737360"/>
          </a:xfrm>
          <a:prstGeom prst="rect">
            <a:avLst/>
          </a:prstGeom>
          <a:solidFill>
            <a:srgbClr val="2D6A4F"/>
          </a:solidFill>
          <a:ln w="6350">
            <a:solidFill>
              <a:srgbClr val="D4E8D4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264408" y="295351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👁️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3721608" y="2971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64408" y="333756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YOLO, OpenCV, PyTorch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264408" y="3538728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plant height, tiller count &amp; LAI estimation — non-destructive, continuous.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163056" y="2880360"/>
            <a:ext cx="2834640" cy="1737360"/>
          </a:xfrm>
          <a:prstGeom prst="rect">
            <a:avLst/>
          </a:prstGeom>
          <a:solidFill>
            <a:srgbClr val="2D6A4F"/>
          </a:solidFill>
          <a:ln w="6350">
            <a:solidFill>
              <a:srgbClr val="D4E8D4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254496" y="295351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💻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6711696" y="2971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54496" y="333756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DSSAT, APSIM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254496" y="3538728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8F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treatment response under projected climate scenarios without field trials.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RECOMMENDATIONS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of Foliar Application on Growth &amp; Yield of Fodder Bajra | UAS Bangalore | Kharif 2025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4297680" cy="1170432"/>
          </a:xfrm>
          <a:prstGeom prst="rect">
            <a:avLst/>
          </a:prstGeom>
          <a:solidFill>
            <a:srgbClr val="1E4A38"/>
          </a:solidFill>
          <a:ln w="6350">
            <a:solidFill>
              <a:srgbClr val="D4E8D4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78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109728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Foliar 2% 19:19:19 @ 25 DAS significantly enhanced growth &amp; fodder yield when combined with soil RDF.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4297680" cy="1170432"/>
          </a:xfrm>
          <a:prstGeom prst="rect">
            <a:avLst/>
          </a:prstGeom>
          <a:solidFill>
            <a:srgbClr val="1E4A38"/>
          </a:solidFill>
          <a:ln w="6350">
            <a:solidFill>
              <a:srgbClr val="D4E8D4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00600" y="10789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303520" y="1097280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T₂ (100% RDF + FYM) recorded highest yield — 3.83 kg/plot — the most productive treatment.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82880" y="2313432"/>
            <a:ext cx="4297680" cy="1170432"/>
          </a:xfrm>
          <a:prstGeom prst="rect">
            <a:avLst/>
          </a:prstGeom>
          <a:solidFill>
            <a:srgbClr val="1E4A38"/>
          </a:solidFill>
          <a:ln w="6350">
            <a:solidFill>
              <a:srgbClr val="D4E8D4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" y="23865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77240" y="2404872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T₄ (75% RDF + Foliar) was statistically at par with T₂ → scope for 25% fertilizer saving.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09160" y="2313432"/>
            <a:ext cx="4297680" cy="1170432"/>
          </a:xfrm>
          <a:prstGeom prst="rect">
            <a:avLst/>
          </a:prstGeom>
          <a:solidFill>
            <a:srgbClr val="1E4A38"/>
          </a:solidFill>
          <a:ln w="6350">
            <a:solidFill>
              <a:srgbClr val="D4E8D4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0600" y="23865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303520" y="2404872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T₃ (100% RDF + Foliar) confirmed additive benefit of foliar nutrition over soil-only treatment.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82880" y="3621024"/>
            <a:ext cx="4297680" cy="1170432"/>
          </a:xfrm>
          <a:prstGeom prst="rect">
            <a:avLst/>
          </a:prstGeom>
          <a:solidFill>
            <a:srgbClr val="1E4A38"/>
          </a:solidFill>
          <a:ln w="6350">
            <a:solidFill>
              <a:srgbClr val="D4E8D4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74320" y="36941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0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77240" y="3712464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8F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Foliar spray alone (T₇: 0% RDF) cannot substitute soil fertilization — lowest yield recorded.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3621024"/>
            <a:ext cx="4297680" cy="1170432"/>
          </a:xfrm>
          <a:prstGeom prst="rect">
            <a:avLst/>
          </a:prstGeom>
          <a:solidFill>
            <a:srgbClr val="52B788"/>
          </a:solidFill>
          <a:ln w="6350">
            <a:solidFill>
              <a:srgbClr val="D4E8D4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00600" y="36941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03520" y="3712464"/>
            <a:ext cx="3611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RECOMMENDED: T₃ and T₄ for sustainable &amp; cost-effective fodder bajra in Eastern Dry Zone, Karnataka.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2880" y="4974336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UAS Bangalore | Dept. of Agronomy | AGR 312 | Kharif 2025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412480" y="497433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10813" y="1091381"/>
            <a:ext cx="5220929" cy="28415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7316" y="0"/>
            <a:ext cx="930131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582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1450</Words>
  <Application>Microsoft Office PowerPoint</Application>
  <PresentationFormat>On-screen Show (16:9)</PresentationFormat>
  <Paragraphs>291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Calibri</vt:lpstr>
      <vt:lpstr>Century Gothic</vt:lpstr>
      <vt:lpstr>Consolas</vt:lpstr>
      <vt:lpstr>Georgia</vt:lpstr>
      <vt:lpstr>Tahoma</vt:lpstr>
      <vt:lpstr>Times New Roman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Effect of Foliar Application on Growth and Yield of Pearl Millet</dc:title>
  <dc:subject>PptxGenJS Presentation</dc:subject>
  <dc:creator>PptxGenJS</dc:creator>
  <cp:lastModifiedBy>Student</cp:lastModifiedBy>
  <cp:revision>8</cp:revision>
  <dcterms:created xsi:type="dcterms:W3CDTF">2026-03-31T03:59:09Z</dcterms:created>
  <dcterms:modified xsi:type="dcterms:W3CDTF">2026-04-01T03:47:38Z</dcterms:modified>
</cp:coreProperties>
</file>